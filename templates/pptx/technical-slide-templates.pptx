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0936" y="438912"/>
            <a:ext cx="5486400" cy="256032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-100">
                <a:solidFill>
                  <a:srgbClr val="3168C8"/>
                </a:solidFill>
                <a:latin typeface="Malgun Gothic"/>
              </a:rPr>
              <a:t>CONCEPT /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" y="804672"/>
            <a:ext cx="10972800" cy="594360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-100">
                <a:solidFill>
                  <a:srgbClr val="12233F"/>
                </a:solidFill>
                <a:latin typeface="Malgun Gothic"/>
              </a:rPr>
              <a:t>이미지는 숫자로 표현된다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1517904"/>
            <a:ext cx="10972800" cy="365760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spc="-100">
                <a:solidFill>
                  <a:srgbClr val="64748B"/>
                </a:solidFill>
                <a:latin typeface="Malgun Gothic"/>
              </a:rPr>
              <a:t>컴퓨터는 픽셀 값을 입력으로 받아 이미지의 특징을 계산한다.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6327648"/>
            <a:ext cx="10917936" cy="11887"/>
          </a:xfrm>
          <a:prstGeom prst="rect">
            <a:avLst/>
          </a:prstGeom>
          <a:solidFill>
            <a:srgbClr val="DD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" y="6437376"/>
            <a:ext cx="7315200" cy="192024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100">
                <a:solidFill>
                  <a:srgbClr val="64748B"/>
                </a:solidFill>
                <a:latin typeface="Malgun Gothic"/>
              </a:rPr>
              <a:t>Design Template Library ·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25328" y="6437376"/>
            <a:ext cx="914400" cy="192024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100">
                <a:solidFill>
                  <a:srgbClr val="64748B"/>
                </a:solidFill>
                <a:latin typeface="Malgun Gothic"/>
              </a:rPr>
              <a:t>01 / 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" y="2203704"/>
            <a:ext cx="548640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496312"/>
            <a:ext cx="4892040" cy="438912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spc="-100">
                <a:solidFill>
                  <a:srgbClr val="12233F"/>
                </a:solidFill>
                <a:latin typeface="Malgun Gothic"/>
              </a:rPr>
              <a:t>이미지 데이터를 이해하는 방법</a:t>
            </a:r>
          </a:p>
        </p:txBody>
      </p:sp>
      <p:sp>
        <p:nvSpPr>
          <p:cNvPr id="10" name="Oval 9"/>
          <p:cNvSpPr/>
          <p:nvPr/>
        </p:nvSpPr>
        <p:spPr>
          <a:xfrm>
            <a:off x="969264" y="3328416"/>
            <a:ext cx="109728" cy="109728"/>
          </a:xfrm>
          <a:prstGeom prst="ellipse">
            <a:avLst/>
          </a:prstGeom>
          <a:solidFill>
            <a:srgbClr val="316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172968"/>
            <a:ext cx="4562856" cy="438912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spc="-100">
                <a:solidFill>
                  <a:srgbClr val="1B2940"/>
                </a:solidFill>
                <a:latin typeface="Malgun Gothic"/>
              </a:rPr>
              <a:t>컬러 이미지는 R, G, B 채널로 표현</a:t>
            </a:r>
          </a:p>
        </p:txBody>
      </p:sp>
      <p:sp>
        <p:nvSpPr>
          <p:cNvPr id="12" name="Oval 11"/>
          <p:cNvSpPr/>
          <p:nvPr/>
        </p:nvSpPr>
        <p:spPr>
          <a:xfrm>
            <a:off x="969264" y="3968496"/>
            <a:ext cx="109728" cy="109728"/>
          </a:xfrm>
          <a:prstGeom prst="ellipse">
            <a:avLst/>
          </a:prstGeom>
          <a:solidFill>
            <a:srgbClr val="316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813048"/>
            <a:ext cx="4562856" cy="438912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spc="-100">
                <a:solidFill>
                  <a:srgbClr val="1B2940"/>
                </a:solidFill>
                <a:latin typeface="Malgun Gothic"/>
              </a:rPr>
              <a:t>각 채널은 픽셀 값이 모인 2차원 배열</a:t>
            </a:r>
          </a:p>
        </p:txBody>
      </p:sp>
      <p:sp>
        <p:nvSpPr>
          <p:cNvPr id="14" name="Oval 13"/>
          <p:cNvSpPr/>
          <p:nvPr/>
        </p:nvSpPr>
        <p:spPr>
          <a:xfrm>
            <a:off x="969264" y="4608576"/>
            <a:ext cx="109728" cy="109728"/>
          </a:xfrm>
          <a:prstGeom prst="ellipse">
            <a:avLst/>
          </a:prstGeom>
          <a:solidFill>
            <a:srgbClr val="316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4453128"/>
            <a:ext cx="4562856" cy="438912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spc="-100">
                <a:solidFill>
                  <a:srgbClr val="1B2940"/>
                </a:solidFill>
                <a:latin typeface="Malgun Gothic"/>
              </a:rPr>
              <a:t>CNN은 배열에서 공간적 패턴을 학습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82512" y="2203704"/>
            <a:ext cx="5166360" cy="347472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 w="12700">
            <a:solidFill>
              <a:srgbClr val="CFD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2551176"/>
            <a:ext cx="4297680" cy="256032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-100">
                <a:solidFill>
                  <a:srgbClr val="3168C8"/>
                </a:solidFill>
                <a:latin typeface="Malgun Gothic"/>
              </a:rPr>
              <a:t>RGB CHANNELS → TENSOR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76288" y="3099816"/>
            <a:ext cx="256032" cy="256032"/>
          </a:xfrm>
          <a:prstGeom prst="rect">
            <a:avLst/>
          </a:prstGeom>
          <a:solidFill>
            <a:srgbClr val="F6C7B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59751" y="3099816"/>
            <a:ext cx="256032" cy="256032"/>
          </a:xfrm>
          <a:prstGeom prst="rect">
            <a:avLst/>
          </a:prstGeom>
          <a:solidFill>
            <a:srgbClr val="F6C7B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43215" y="3099816"/>
            <a:ext cx="256032" cy="256032"/>
          </a:xfrm>
          <a:prstGeom prst="rect">
            <a:avLst/>
          </a:prstGeom>
          <a:solidFill>
            <a:srgbClr val="F6C7B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76288" y="3383280"/>
            <a:ext cx="256032" cy="256032"/>
          </a:xfrm>
          <a:prstGeom prst="rect">
            <a:avLst/>
          </a:prstGeom>
          <a:solidFill>
            <a:srgbClr val="F6C7B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59751" y="3383280"/>
            <a:ext cx="256032" cy="256032"/>
          </a:xfrm>
          <a:prstGeom prst="rect">
            <a:avLst/>
          </a:prstGeom>
          <a:solidFill>
            <a:srgbClr val="F6C7B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43215" y="3383280"/>
            <a:ext cx="256032" cy="256032"/>
          </a:xfrm>
          <a:prstGeom prst="rect">
            <a:avLst/>
          </a:prstGeom>
          <a:solidFill>
            <a:srgbClr val="F6C7B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76288" y="3666744"/>
            <a:ext cx="256032" cy="256032"/>
          </a:xfrm>
          <a:prstGeom prst="rect">
            <a:avLst/>
          </a:prstGeom>
          <a:solidFill>
            <a:srgbClr val="F6C7B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59751" y="3666744"/>
            <a:ext cx="256032" cy="256032"/>
          </a:xfrm>
          <a:prstGeom prst="rect">
            <a:avLst/>
          </a:prstGeom>
          <a:solidFill>
            <a:srgbClr val="F6C7B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43215" y="3666744"/>
            <a:ext cx="256032" cy="256032"/>
          </a:xfrm>
          <a:prstGeom prst="rect">
            <a:avLst/>
          </a:prstGeom>
          <a:solidFill>
            <a:srgbClr val="F6C7B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59751" y="4041648"/>
            <a:ext cx="365760" cy="256032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spc="-100">
                <a:solidFill>
                  <a:srgbClr val="1B3558"/>
                </a:solidFill>
                <a:latin typeface="Malgun Gothic"/>
              </a:rPr>
              <a:t>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1271" y="3383280"/>
            <a:ext cx="265176" cy="329184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spc="-100">
                <a:solidFill>
                  <a:srgbClr val="64748B"/>
                </a:solidFill>
                <a:latin typeface="Malgun Gothic"/>
              </a:rPr>
              <a:t>+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3099816"/>
            <a:ext cx="256032" cy="256032"/>
          </a:xfrm>
          <a:prstGeom prst="rect">
            <a:avLst/>
          </a:prstGeom>
          <a:solidFill>
            <a:srgbClr val="B7E9D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13064" y="3099816"/>
            <a:ext cx="256032" cy="256032"/>
          </a:xfrm>
          <a:prstGeom prst="rect">
            <a:avLst/>
          </a:prstGeom>
          <a:solidFill>
            <a:srgbClr val="B7E9D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796528" y="3099816"/>
            <a:ext cx="256032" cy="256032"/>
          </a:xfrm>
          <a:prstGeom prst="rect">
            <a:avLst/>
          </a:prstGeom>
          <a:solidFill>
            <a:srgbClr val="B7E9D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3383280"/>
            <a:ext cx="256032" cy="256032"/>
          </a:xfrm>
          <a:prstGeom prst="rect">
            <a:avLst/>
          </a:prstGeom>
          <a:solidFill>
            <a:srgbClr val="B7E9D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13064" y="3383280"/>
            <a:ext cx="256032" cy="256032"/>
          </a:xfrm>
          <a:prstGeom prst="rect">
            <a:avLst/>
          </a:prstGeom>
          <a:solidFill>
            <a:srgbClr val="B7E9D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796528" y="3383280"/>
            <a:ext cx="256032" cy="256032"/>
          </a:xfrm>
          <a:prstGeom prst="rect">
            <a:avLst/>
          </a:prstGeom>
          <a:solidFill>
            <a:srgbClr val="B7E9D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0" y="3666744"/>
            <a:ext cx="256032" cy="256032"/>
          </a:xfrm>
          <a:prstGeom prst="rect">
            <a:avLst/>
          </a:prstGeom>
          <a:solidFill>
            <a:srgbClr val="B7E9D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513064" y="3666744"/>
            <a:ext cx="256032" cy="256032"/>
          </a:xfrm>
          <a:prstGeom prst="rect">
            <a:avLst/>
          </a:prstGeom>
          <a:solidFill>
            <a:srgbClr val="B7E9D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796528" y="3666744"/>
            <a:ext cx="256032" cy="256032"/>
          </a:xfrm>
          <a:prstGeom prst="rect">
            <a:avLst/>
          </a:prstGeom>
          <a:solidFill>
            <a:srgbClr val="B7E9D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13064" y="4041648"/>
            <a:ext cx="365760" cy="256032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spc="-100">
                <a:solidFill>
                  <a:srgbClr val="1B3558"/>
                </a:solidFill>
                <a:latin typeface="Malgun Gothic"/>
              </a:rPr>
              <a:t>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44584" y="3383280"/>
            <a:ext cx="265176" cy="329184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spc="-100">
                <a:solidFill>
                  <a:srgbClr val="64748B"/>
                </a:solidFill>
                <a:latin typeface="Malgun Gothic"/>
              </a:rPr>
              <a:t>+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82912" y="3099816"/>
            <a:ext cx="256032" cy="256032"/>
          </a:xfrm>
          <a:prstGeom prst="rect">
            <a:avLst/>
          </a:prstGeom>
          <a:solidFill>
            <a:srgbClr val="B9CF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866376" y="3099816"/>
            <a:ext cx="256032" cy="256032"/>
          </a:xfrm>
          <a:prstGeom prst="rect">
            <a:avLst/>
          </a:prstGeom>
          <a:solidFill>
            <a:srgbClr val="B9CF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149840" y="3099816"/>
            <a:ext cx="256032" cy="256032"/>
          </a:xfrm>
          <a:prstGeom prst="rect">
            <a:avLst/>
          </a:prstGeom>
          <a:solidFill>
            <a:srgbClr val="B9CF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582912" y="3383280"/>
            <a:ext cx="256032" cy="256032"/>
          </a:xfrm>
          <a:prstGeom prst="rect">
            <a:avLst/>
          </a:prstGeom>
          <a:solidFill>
            <a:srgbClr val="B9CF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866376" y="3383280"/>
            <a:ext cx="256032" cy="256032"/>
          </a:xfrm>
          <a:prstGeom prst="rect">
            <a:avLst/>
          </a:prstGeom>
          <a:solidFill>
            <a:srgbClr val="B9CF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149840" y="3383280"/>
            <a:ext cx="256032" cy="256032"/>
          </a:xfrm>
          <a:prstGeom prst="rect">
            <a:avLst/>
          </a:prstGeom>
          <a:solidFill>
            <a:srgbClr val="B9CF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582912" y="3666744"/>
            <a:ext cx="256032" cy="256032"/>
          </a:xfrm>
          <a:prstGeom prst="rect">
            <a:avLst/>
          </a:prstGeom>
          <a:solidFill>
            <a:srgbClr val="B9CF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66376" y="3666744"/>
            <a:ext cx="256032" cy="256032"/>
          </a:xfrm>
          <a:prstGeom prst="rect">
            <a:avLst/>
          </a:prstGeom>
          <a:solidFill>
            <a:srgbClr val="B9CF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149840" y="3666744"/>
            <a:ext cx="256032" cy="256032"/>
          </a:xfrm>
          <a:prstGeom prst="rect">
            <a:avLst/>
          </a:prstGeom>
          <a:solidFill>
            <a:srgbClr val="B9CF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66376" y="4041648"/>
            <a:ext cx="365760" cy="256032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spc="-100">
                <a:solidFill>
                  <a:srgbClr val="1B3558"/>
                </a:solidFill>
                <a:latin typeface="Malgun Gothic"/>
              </a:rPr>
              <a:t>B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766560" y="4526280"/>
            <a:ext cx="434340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94576" y="4636008"/>
            <a:ext cx="4087368" cy="274320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60" b="1" spc="-100">
                <a:solidFill>
                  <a:srgbClr val="12233F"/>
                </a:solidFill>
                <a:latin typeface="Malgun Gothic"/>
              </a:rPr>
              <a:t>64 × 64 × 3  (H × W × C)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84848" y="5175504"/>
            <a:ext cx="4379976" cy="356616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spc="-100">
                <a:solidFill>
                  <a:srgbClr val="64748B"/>
                </a:solidFill>
                <a:latin typeface="Malgun Gothic"/>
              </a:rPr>
              <a:t>이미지 크기 64×64는 예시이며, 텐서 축 순서는 프레임워크에 따라 다를 수 있음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0936" y="438912"/>
            <a:ext cx="5486400" cy="256032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-100">
                <a:solidFill>
                  <a:srgbClr val="3168C8"/>
                </a:solidFill>
                <a:latin typeface="Malgun Gothic"/>
              </a:rPr>
              <a:t>PROCESS /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" y="804672"/>
            <a:ext cx="10972800" cy="594360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-100">
                <a:solidFill>
                  <a:srgbClr val="12233F"/>
                </a:solidFill>
                <a:latin typeface="Malgun Gothic"/>
              </a:rPr>
              <a:t>CNN의 기본 데이터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1517904"/>
            <a:ext cx="10972800" cy="365760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spc="-100">
                <a:solidFill>
                  <a:srgbClr val="64748B"/>
                </a:solidFill>
                <a:latin typeface="Malgun Gothic"/>
              </a:rPr>
              <a:t>이미지에서 특징을 추출한 뒤 목적에 맞는 예측 결과를 만든다.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6327648"/>
            <a:ext cx="10917936" cy="11887"/>
          </a:xfrm>
          <a:prstGeom prst="rect">
            <a:avLst/>
          </a:prstGeom>
          <a:solidFill>
            <a:srgbClr val="DD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" y="6437376"/>
            <a:ext cx="7315200" cy="192024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100">
                <a:solidFill>
                  <a:srgbClr val="64748B"/>
                </a:solidFill>
                <a:latin typeface="Malgun Gothic"/>
              </a:rPr>
              <a:t>Design Template Library ·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25328" y="6437376"/>
            <a:ext cx="914400" cy="192024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100">
                <a:solidFill>
                  <a:srgbClr val="64748B"/>
                </a:solidFill>
                <a:latin typeface="Malgun Gothic"/>
              </a:rPr>
              <a:t>02 / 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" y="2660904"/>
            <a:ext cx="2350008" cy="24140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" y="2916936"/>
            <a:ext cx="2020824" cy="210312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-100">
                <a:solidFill>
                  <a:srgbClr val="3168C8"/>
                </a:solidFill>
                <a:latin typeface="Malgun Gothic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374136"/>
            <a:ext cx="2075688" cy="374904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80" b="1" spc="-100">
                <a:solidFill>
                  <a:srgbClr val="12233F"/>
                </a:solidFill>
                <a:latin typeface="Malgun Gothic"/>
              </a:rPr>
              <a:t>입력 이미지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5" y="3959352"/>
            <a:ext cx="1984248" cy="566928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10" b="0" spc="-100">
                <a:solidFill>
                  <a:srgbClr val="64748B"/>
                </a:solidFill>
                <a:latin typeface="Malgun Gothic"/>
              </a:rPr>
              <a:t>RGB 픽셀 데이터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2" y="3575304"/>
            <a:ext cx="384048" cy="429768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-100">
                <a:solidFill>
                  <a:srgbClr val="3168C8"/>
                </a:solidFill>
                <a:latin typeface="Malgun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83864" y="2660904"/>
            <a:ext cx="2350008" cy="2414016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 w="19050">
            <a:solidFill>
              <a:srgbClr val="316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8456" y="2916936"/>
            <a:ext cx="2020824" cy="210312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-100">
                <a:solidFill>
                  <a:srgbClr val="3168C8"/>
                </a:solidFill>
                <a:latin typeface="Malgun Gothic"/>
              </a:rPr>
              <a:t>FEATURE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3374136"/>
            <a:ext cx="2075688" cy="374904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80" b="1" spc="-100">
                <a:solidFill>
                  <a:srgbClr val="12233F"/>
                </a:solidFill>
                <a:latin typeface="Malgun Gothic"/>
              </a:rPr>
              <a:t>CNN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3959352"/>
            <a:ext cx="1984248" cy="566928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10" b="0" spc="-100">
                <a:solidFill>
                  <a:srgbClr val="64748B"/>
                </a:solidFill>
                <a:latin typeface="Malgun Gothic"/>
              </a:rPr>
              <a:t>계층적으로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10" b="0" spc="-100">
                <a:solidFill>
                  <a:srgbClr val="64748B"/>
                </a:solidFill>
                <a:latin typeface="Malgun Gothic"/>
              </a:rPr>
              <a:t>특징 추출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3575304"/>
            <a:ext cx="384048" cy="429768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-100">
                <a:solidFill>
                  <a:srgbClr val="3168C8"/>
                </a:solidFill>
                <a:latin typeface="Malgun Gothi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36792" y="2660904"/>
            <a:ext cx="2350008" cy="24140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01383" y="2916936"/>
            <a:ext cx="2020824" cy="210312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-100">
                <a:solidFill>
                  <a:srgbClr val="3168C8"/>
                </a:solidFill>
                <a:latin typeface="Malgun Gothic"/>
              </a:rPr>
              <a:t>TASK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3374136"/>
            <a:ext cx="2075688" cy="374904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80" b="1" spc="-100">
                <a:solidFill>
                  <a:srgbClr val="12233F"/>
                </a:solidFill>
                <a:latin typeface="Malgun Gothic"/>
              </a:rPr>
              <a:t>Task Head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3959352"/>
            <a:ext cx="1984248" cy="566928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10" b="0" spc="-100">
                <a:solidFill>
                  <a:srgbClr val="64748B"/>
                </a:solidFill>
                <a:latin typeface="Malgun Gothic"/>
              </a:rPr>
              <a:t>분류 등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10" b="0" spc="-100">
                <a:solidFill>
                  <a:srgbClr val="64748B"/>
                </a:solidFill>
                <a:latin typeface="Malgun Gothic"/>
              </a:rPr>
              <a:t>목적별 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0808" y="3575304"/>
            <a:ext cx="384048" cy="429768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spc="-100">
                <a:solidFill>
                  <a:srgbClr val="3168C8"/>
                </a:solidFill>
                <a:latin typeface="Malgun Gothic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19" y="2660904"/>
            <a:ext cx="2350008" cy="2414016"/>
          </a:xfrm>
          <a:prstGeom prst="roundRect">
            <a:avLst>
              <a:gd name="adj" fmla="val 12000"/>
            </a:avLst>
          </a:prstGeom>
          <a:solidFill>
            <a:srgbClr val="E3F6F3"/>
          </a:solidFill>
          <a:ln w="19050">
            <a:solidFill>
              <a:srgbClr val="26A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54311" y="2916936"/>
            <a:ext cx="2020824" cy="210312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spc="-100">
                <a:solidFill>
                  <a:srgbClr val="3168C8"/>
                </a:solidFill>
                <a:latin typeface="Malgun Gothic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374136"/>
            <a:ext cx="2075688" cy="374904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80" b="1" spc="-100">
                <a:solidFill>
                  <a:srgbClr val="12233F"/>
                </a:solidFill>
                <a:latin typeface="Malgun Gothic"/>
              </a:rPr>
              <a:t>예측 결과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599" y="3959352"/>
            <a:ext cx="1984248" cy="566928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10" b="0" spc="-100">
                <a:solidFill>
                  <a:srgbClr val="64748B"/>
                </a:solidFill>
                <a:latin typeface="Malgun Gothic"/>
              </a:rPr>
              <a:t>클래스 점수 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367528"/>
            <a:ext cx="36576" cy="384048"/>
          </a:xfrm>
          <a:prstGeom prst="rect">
            <a:avLst/>
          </a:prstGeom>
          <a:solidFill>
            <a:srgbClr val="26A6A1"/>
          </a:solidFill>
          <a:ln w="12700">
            <a:solidFill>
              <a:srgbClr val="26A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376672"/>
            <a:ext cx="10195560" cy="347472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spc="-100">
                <a:solidFill>
                  <a:srgbClr val="1B3558"/>
                </a:solidFill>
                <a:latin typeface="Malgun Gothic"/>
              </a:rPr>
              <a:t>핵심: Feature extractor와 Task head의 역할을 분리해 이해한다.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0936" y="438912"/>
            <a:ext cx="5486400" cy="256032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-100">
                <a:solidFill>
                  <a:srgbClr val="3168C8"/>
                </a:solidFill>
                <a:latin typeface="Malgun Gothic"/>
              </a:rPr>
              <a:t>COMPARISON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" y="804672"/>
            <a:ext cx="10972800" cy="594360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-100">
                <a:solidFill>
                  <a:srgbClr val="12233F"/>
                </a:solidFill>
                <a:latin typeface="Malgun Gothic"/>
              </a:rPr>
              <a:t>규칙 기반과 머신러닝의 차이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1517904"/>
            <a:ext cx="10972800" cy="365760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spc="-100">
                <a:solidFill>
                  <a:srgbClr val="64748B"/>
                </a:solidFill>
                <a:latin typeface="Malgun Gothic"/>
              </a:rPr>
              <a:t>판단 기준을 누가, 어떻게 만드는지가 핵심적인 차이다.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" y="6327648"/>
            <a:ext cx="10917936" cy="11887"/>
          </a:xfrm>
          <a:prstGeom prst="rect">
            <a:avLst/>
          </a:prstGeom>
          <a:solidFill>
            <a:srgbClr val="DD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" y="6437376"/>
            <a:ext cx="7315200" cy="192024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100">
                <a:solidFill>
                  <a:srgbClr val="64748B"/>
                </a:solidFill>
                <a:latin typeface="Malgun Gothic"/>
              </a:rPr>
              <a:t>Design Template Library ·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25328" y="6437376"/>
            <a:ext cx="914400" cy="192024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-100">
                <a:solidFill>
                  <a:srgbClr val="64748B"/>
                </a:solidFill>
                <a:latin typeface="Malgun Gothic"/>
              </a:rPr>
              <a:t>03 / 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" y="2212848"/>
            <a:ext cx="5330952" cy="34655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2468880"/>
            <a:ext cx="2194560" cy="365760"/>
          </a:xfrm>
          <a:prstGeom prst="roundRect">
            <a:avLst>
              <a:gd name="adj" fmla="val 12000"/>
            </a:avLst>
          </a:prstGeom>
          <a:solidFill>
            <a:srgbClr val="FFF3E4"/>
          </a:solidFill>
          <a:ln w="12700">
            <a:solidFill>
              <a:srgbClr val="FFF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2542032"/>
            <a:ext cx="2029968" cy="210312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 spc="-100">
                <a:solidFill>
                  <a:srgbClr val="945616"/>
                </a:solidFill>
                <a:latin typeface="Malgun Gothic"/>
              </a:rPr>
              <a:t>RULE-BASED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4800600" cy="457200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20" b="1" spc="-100">
                <a:solidFill>
                  <a:srgbClr val="12233F"/>
                </a:solidFill>
                <a:latin typeface="Malgun Gothic"/>
              </a:rPr>
              <a:t>사람이 규칙을 정의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85032"/>
            <a:ext cx="4791456" cy="621792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39" b="0" spc="-100">
                <a:solidFill>
                  <a:srgbClr val="64748B"/>
                </a:solidFill>
                <a:latin typeface="Malgun Gothic"/>
              </a:rPr>
              <a:t>예측·판단 조건과 규칙을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39" b="0" spc="-100">
                <a:solidFill>
                  <a:srgbClr val="64748B"/>
                </a:solidFill>
                <a:latin typeface="Malgun Gothic"/>
              </a:rPr>
              <a:t>개발자가 직접 작성한다.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590288"/>
            <a:ext cx="4754880" cy="566928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 w="12700"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4690872"/>
            <a:ext cx="4462272" cy="320040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39" b="1" spc="-100">
                <a:solidFill>
                  <a:srgbClr val="1B3558"/>
                </a:solidFill>
                <a:latin typeface="Malgun Gothic"/>
              </a:rPr>
              <a:t>예: 1 + 1 =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" y="5285232"/>
            <a:ext cx="4736592" cy="228600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 spc="-100">
                <a:solidFill>
                  <a:srgbClr val="64748B"/>
                </a:solidFill>
                <a:latin typeface="Malgun Gothic"/>
              </a:rPr>
              <a:t>명확하고 단순한 조건에 적합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212848"/>
            <a:ext cx="5330952" cy="34655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73952" y="2468880"/>
            <a:ext cx="2194560" cy="36576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 w="12700"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74536" y="2542032"/>
            <a:ext cx="2029968" cy="210312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 spc="-100">
                <a:solidFill>
                  <a:srgbClr val="3168C8"/>
                </a:solidFill>
                <a:latin typeface="Malgun Gothic"/>
              </a:rPr>
              <a:t>MACHINE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017520"/>
            <a:ext cx="4800600" cy="457200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20" b="1" spc="-100">
                <a:solidFill>
                  <a:srgbClr val="12233F"/>
                </a:solidFill>
                <a:latin typeface="Malgun Gothic"/>
              </a:rPr>
              <a:t>데이터에서 규칙을 학습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685032"/>
            <a:ext cx="4791456" cy="621792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39" b="0" spc="-100">
                <a:solidFill>
                  <a:srgbClr val="64748B"/>
                </a:solidFill>
                <a:latin typeface="Malgun Gothic"/>
              </a:rPr>
              <a:t>정의된 학습 목표와 데이터로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39" b="0" spc="-100">
                <a:solidFill>
                  <a:srgbClr val="64748B"/>
                </a:solidFill>
                <a:latin typeface="Malgun Gothic"/>
              </a:rPr>
              <a:t>모델 파라미터를 추정한다.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4590288"/>
            <a:ext cx="4754880" cy="566928"/>
          </a:xfrm>
          <a:prstGeom prst="roundRect">
            <a:avLst>
              <a:gd name="adj" fmla="val 12000"/>
            </a:avLst>
          </a:prstGeom>
          <a:solidFill>
            <a:srgbClr val="F6F8FC"/>
          </a:solidFill>
          <a:ln w="12700"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4690872"/>
            <a:ext cx="4462272" cy="320040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39" b="1" spc="-100">
                <a:solidFill>
                  <a:srgbClr val="1B3558"/>
                </a:solidFill>
                <a:latin typeface="Malgun Gothic"/>
              </a:rPr>
              <a:t>예: 이미지 속 사과 분류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5285232"/>
            <a:ext cx="4736592" cy="228600"/>
          </a:xfrm>
          <a:prstGeom prst="rect">
            <a:avLst/>
          </a:prstGeom>
          <a:noFill/>
        </p:spPr>
        <p:txBody>
          <a:bodyPr wrap="square" lIns="0" rIns="0" tIns="13716" bIns="13716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 spc="-100">
                <a:solidFill>
                  <a:srgbClr val="64748B"/>
                </a:solidFill>
                <a:latin typeface="Malgun Gothic"/>
              </a:rPr>
              <a:t>복잡한 시각 패턴에 유리할 수 있음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